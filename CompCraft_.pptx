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44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C8DA"/>
                </a:solidFill>
                <a:latin typeface="Calibri"/>
              </a:defRPr>
            </a:pPr>
            <a:r>
              <a:t>ГАПОУ ИО «Ангарский техникум строительных технологий»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Calibri"/>
              </a:defRPr>
            </a:pPr>
            <a:r>
              <a:t>КУРСОВАЯ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Разработка веб-сервиса</a:t>
            </a:r>
            <a:br/>
            <a:r>
              <a:t>«Интернет-магазин компьютеров»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9752" y="3526267"/>
            <a:ext cx="3047695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8DA"/>
                </a:solidFill>
                <a:latin typeface="Calibri"/>
              </a:defRPr>
            </a:pPr>
            <a:r>
              <a:rPr dirty="0" err="1"/>
              <a:t>Разработал</a:t>
            </a:r>
            <a:r>
              <a:rPr dirty="0"/>
              <a:t>:  </a:t>
            </a:r>
            <a:r>
              <a:rPr dirty="0" err="1"/>
              <a:t>Ошаров</a:t>
            </a:r>
            <a:r>
              <a:rPr dirty="0"/>
              <a:t> Ю.О.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8DA"/>
                </a:solidFill>
                <a:latin typeface="Calibri"/>
              </a:defRPr>
            </a:pPr>
            <a:r>
              <a:t>Руководитель:  Денисюк А.В.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C8DA"/>
                </a:solidFill>
                <a:latin typeface="Calibri"/>
              </a:defRPr>
            </a:pPr>
            <a:r>
              <a:t>Ангарск,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Актуальность 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Персональный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компьютер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—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основной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инструмент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для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учёбы</a:t>
            </a:r>
            <a:r>
              <a:rPr sz="1800" dirty="0">
                <a:solidFill>
                  <a:srgbClr val="C0C8DA"/>
                </a:solidFill>
                <a:latin typeface="Calibri"/>
              </a:rPr>
              <a:t>,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работы</a:t>
            </a:r>
            <a:r>
              <a:rPr sz="1800" dirty="0">
                <a:solidFill>
                  <a:srgbClr val="C0C8DA"/>
                </a:solidFill>
                <a:latin typeface="Calibri"/>
              </a:rPr>
              <a:t>,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программирования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и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игр</a:t>
            </a:r>
            <a:endParaRPr sz="18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Самостоятельная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сборка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ПК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требует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знаний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о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совместимости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комплектующих</a:t>
            </a:r>
            <a:endParaRPr sz="18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Ошибки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при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подборе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ведут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к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несовместимости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компонентов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и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финансовым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потерям</a:t>
            </a:r>
            <a:endParaRPr sz="18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Существующие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интернет-магазины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часто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не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предлагают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проверку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совместимости</a:t>
            </a:r>
            <a:endParaRPr sz="18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Необходим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удобный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инструмент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для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подбора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и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проверки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конфигурации</a:t>
            </a:r>
            <a:r>
              <a:rPr sz="1800" dirty="0">
                <a:solidFill>
                  <a:srgbClr val="C0C8DA"/>
                </a:solidFill>
                <a:latin typeface="Calibri"/>
              </a:rPr>
              <a:t> ПК </a:t>
            </a:r>
            <a:r>
              <a:rPr sz="1800" dirty="0" err="1">
                <a:solidFill>
                  <a:srgbClr val="C0C8DA"/>
                </a:solidFill>
                <a:latin typeface="Calibri"/>
              </a:rPr>
              <a:t>онлайн</a:t>
            </a:r>
            <a:endParaRPr sz="1800" dirty="0">
              <a:solidFill>
                <a:srgbClr val="C0C8DA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931920" cy="4572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A4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6200"/>
              </a:spcBef>
            </a:pPr>
            <a:r>
              <a:rPr sz="1400">
                <a:solidFill>
                  <a:srgbClr val="5A6A8A"/>
                </a:solidFill>
                <a:latin typeface="Calibri"/>
              </a:rPr>
              <a:t>📷  Скриншот главной страницы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A1391E0-AD3D-4B9C-BFE3-0B3C979A5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550" y="1371600"/>
            <a:ext cx="466724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Цель и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2148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🎯  Цель работы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Разработка веб-приложения интернет-магазина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компьютеров с возможностью подбора 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сохранения конфигураций ПК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D2FF"/>
                </a:solidFill>
                <a:latin typeface="Calibri"/>
              </a:rPr>
              <a:t>1.  </a:t>
            </a:r>
            <a:r>
              <a:rPr sz="1500">
                <a:solidFill>
                  <a:srgbClr val="C0C8DA"/>
                </a:solidFill>
                <a:latin typeface="Calibri"/>
              </a:rPr>
              <a:t>Изучить предметную область интернет-магазинов комплектующих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D2FF"/>
                </a:solidFill>
                <a:latin typeface="Calibri"/>
              </a:rPr>
              <a:t>2.  </a:t>
            </a:r>
            <a:r>
              <a:rPr sz="1500">
                <a:solidFill>
                  <a:srgbClr val="C0C8DA"/>
                </a:solidFill>
                <a:latin typeface="Calibri"/>
              </a:rPr>
              <a:t>Рассмотреть основы клиент-серверной архитектуры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D2FF"/>
                </a:solidFill>
                <a:latin typeface="Calibri"/>
              </a:rPr>
              <a:t>3.  </a:t>
            </a:r>
            <a:r>
              <a:rPr sz="1500">
                <a:solidFill>
                  <a:srgbClr val="C0C8DA"/>
                </a:solidFill>
                <a:latin typeface="Calibri"/>
              </a:rPr>
              <a:t>Обосновать выбор стека: Vue, Express, MySQL, Docker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D2FF"/>
                </a:solidFill>
                <a:latin typeface="Calibri"/>
              </a:rPr>
              <a:t>4.  </a:t>
            </a:r>
            <a:r>
              <a:rPr sz="1500">
                <a:solidFill>
                  <a:srgbClr val="C0C8DA"/>
                </a:solidFill>
                <a:latin typeface="Calibri"/>
              </a:rPr>
              <a:t>Спроектировать структуру клиентской и серверной частей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D2FF"/>
                </a:solidFill>
                <a:latin typeface="Calibri"/>
              </a:rPr>
              <a:t>5.  </a:t>
            </a:r>
            <a:r>
              <a:rPr sz="1500">
                <a:solidFill>
                  <a:srgbClr val="C0C8DA"/>
                </a:solidFill>
                <a:latin typeface="Calibri"/>
              </a:rPr>
              <a:t>Разработать базу данных для хранения данных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D2FF"/>
                </a:solidFill>
                <a:latin typeface="Calibri"/>
              </a:rPr>
              <a:t>6.  </a:t>
            </a:r>
            <a:r>
              <a:rPr sz="1500">
                <a:solidFill>
                  <a:srgbClr val="C0C8DA"/>
                </a:solidFill>
                <a:latin typeface="Calibri"/>
              </a:rPr>
              <a:t>Реализовать авторизацию с хешированием паролей (bcrypt)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D2FF"/>
                </a:solidFill>
                <a:latin typeface="Calibri"/>
              </a:rPr>
              <a:t>7.  </a:t>
            </a:r>
            <a:r>
              <a:rPr sz="1500">
                <a:solidFill>
                  <a:srgbClr val="C0C8DA"/>
                </a:solidFill>
                <a:latin typeface="Calibri"/>
              </a:rPr>
              <a:t>Реализовать каталог, конфигуратор ПК, проверку совместимости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D2FF"/>
                </a:solidFill>
                <a:latin typeface="Calibri"/>
              </a:rPr>
              <a:t>8.  </a:t>
            </a:r>
            <a:r>
              <a:rPr sz="1500">
                <a:solidFill>
                  <a:srgbClr val="C0C8DA"/>
                </a:solidFill>
                <a:latin typeface="Calibri"/>
              </a:rPr>
              <a:t>Обеспечить развёртывание через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Предметная область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38404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1416" y="13639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rPr dirty="0"/>
              <a:t>🖥️ 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комплектующих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Процессоры</a:t>
            </a:r>
            <a:r>
              <a:rPr sz="1400" dirty="0">
                <a:solidFill>
                  <a:srgbClr val="C0C8DA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видеокарты</a:t>
            </a:r>
            <a:r>
              <a:rPr sz="1400" dirty="0">
                <a:solidFill>
                  <a:srgbClr val="C0C8DA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материнские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платы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Оперативная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память</a:t>
            </a:r>
            <a:r>
              <a:rPr sz="1400" dirty="0">
                <a:solidFill>
                  <a:srgbClr val="C0C8DA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блоки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питания</a:t>
            </a:r>
            <a:r>
              <a:rPr sz="1400" dirty="0">
                <a:solidFill>
                  <a:srgbClr val="C0C8DA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корпуса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Характеристики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цены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каждого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товара</a:t>
            </a:r>
            <a:endParaRPr sz="1400" dirty="0">
              <a:solidFill>
                <a:srgbClr val="C0C8DA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55848" y="1371600"/>
            <a:ext cx="2651760" cy="38404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1381013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rPr dirty="0"/>
              <a:t>⚙️  </a:t>
            </a:r>
            <a:r>
              <a:rPr dirty="0" err="1"/>
              <a:t>Конфигуратор</a:t>
            </a:r>
            <a:r>
              <a:rPr dirty="0"/>
              <a:t> ПК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30168" y="196596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21031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Пошаговый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подбор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комплектующих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Автоматическая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проверка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совместимости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Расчёт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итоговой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стоимости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сборки</a:t>
            </a:r>
            <a:endParaRPr sz="1400" dirty="0">
              <a:solidFill>
                <a:srgbClr val="C0C8DA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54496" y="1371600"/>
            <a:ext cx="2651760" cy="38404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4878" y="1381013"/>
            <a:ext cx="2391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rPr dirty="0"/>
              <a:t>👤</a:t>
            </a:r>
            <a:r>
              <a:rPr dirty="0" err="1"/>
              <a:t>Пользовательский</a:t>
            </a:r>
            <a:r>
              <a:rPr dirty="0"/>
              <a:t> </a:t>
            </a:r>
            <a:r>
              <a:rPr dirty="0" err="1"/>
              <a:t>сервис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6528816" y="196596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28816" y="21031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Регистрация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авторизация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Личный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профиль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пользователя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Сохранение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нескольких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конфигураций</a:t>
            </a:r>
            <a:endParaRPr sz="1400" dirty="0">
              <a:solidFill>
                <a:srgbClr val="C0C8DA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30194" y="1381013"/>
            <a:ext cx="2651760" cy="38404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1704" y="147447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rPr dirty="0"/>
              <a:t>🔧  </a:t>
            </a:r>
            <a:r>
              <a:rPr dirty="0" err="1"/>
              <a:t>Админ-панель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9793224" y="196596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27464" y="21031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Управление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каталогом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товаров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Редактирование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характеристик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Контроль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данных</a:t>
            </a:r>
            <a:r>
              <a:rPr sz="1400" dirty="0">
                <a:solidFill>
                  <a:srgbClr val="C0C8D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пользователей</a:t>
            </a:r>
            <a:endParaRPr sz="1400" dirty="0">
              <a:solidFill>
                <a:srgbClr val="C0C8D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Calibri"/>
              </a:defRPr>
            </a:pPr>
            <a:r>
              <a:rPr dirty="0" err="1"/>
              <a:t>Особенность</a:t>
            </a:r>
            <a:r>
              <a:rPr dirty="0"/>
              <a:t>: </a:t>
            </a:r>
            <a:r>
              <a:rPr dirty="0" err="1"/>
              <a:t>комплектующие</a:t>
            </a:r>
            <a:r>
              <a:rPr dirty="0"/>
              <a:t> </a:t>
            </a:r>
            <a:r>
              <a:rPr dirty="0" err="1"/>
              <a:t>имеют</a:t>
            </a:r>
            <a:r>
              <a:rPr dirty="0"/>
              <a:t> </a:t>
            </a:r>
            <a:r>
              <a:rPr dirty="0" err="1"/>
              <a:t>сложные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 — </a:t>
            </a:r>
            <a:r>
              <a:rPr dirty="0" err="1"/>
              <a:t>процессор</a:t>
            </a:r>
            <a:r>
              <a:rPr dirty="0"/>
              <a:t> ↔ </a:t>
            </a:r>
            <a:r>
              <a:rPr dirty="0" err="1"/>
              <a:t>сокет</a:t>
            </a:r>
            <a:r>
              <a:rPr dirty="0"/>
              <a:t>, ОЗУ ↔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, БП ↔ </a:t>
            </a:r>
            <a:r>
              <a:rPr dirty="0" err="1"/>
              <a:t>мощность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Выбор технологий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103120" cy="47548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Vue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A"/>
                </a:solidFill>
                <a:latin typeface="Calibri"/>
              </a:defRPr>
            </a:pPr>
            <a:r>
              <a:t>Клиентский фреймворк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737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00D2FF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Компонентный подход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00D2FF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Реактивные данные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00D2FF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Маршрутизация (Vue Router)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00D2FF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Сборка через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103120" cy="47548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4EC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C94E"/>
                </a:solidFill>
                <a:latin typeface="Calibri"/>
              </a:defRPr>
            </a:pPr>
            <a:r>
              <a:t>Express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11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A"/>
                </a:solidFill>
                <a:latin typeface="Calibri"/>
              </a:defRPr>
            </a:pPr>
            <a:r>
              <a:t>Серверный фреймворк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46888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2651760"/>
            <a:ext cx="1737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4EC94E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Маршрутизация API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4EC94E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Middleware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4EC94E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Контроллеры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4EC94E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Обработка ошибок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371600"/>
            <a:ext cx="2103120" cy="47548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500"/>
                </a:solidFill>
                <a:latin typeface="Calibri"/>
              </a:defRPr>
            </a:pPr>
            <a: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011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A"/>
                </a:solidFill>
                <a:latin typeface="Calibri"/>
              </a:defRPr>
            </a:pPr>
            <a:r>
              <a:t>База данных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246888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2651760"/>
            <a:ext cx="1737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A500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Реляционная модель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A500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SQL-запросы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A500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Связи между сущностями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A500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Целостность данных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371600"/>
            <a:ext cx="2103120" cy="47548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49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0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496ED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011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A"/>
                </a:solidFill>
                <a:latin typeface="Calibri"/>
              </a:defRPr>
            </a:pPr>
            <a:r>
              <a:t>Контейнеризация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246888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0" y="2651760"/>
            <a:ext cx="1737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2496ED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Dockerfile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2496ED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docker-compose.yml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2496ED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Nginx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2496ED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Volume для данных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1371600"/>
            <a:ext cx="2103120" cy="47548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0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74C3C"/>
                </a:solidFill>
                <a:latin typeface="Calibri"/>
              </a:defRPr>
            </a:pPr>
            <a:r>
              <a:t>bcrypt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011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A"/>
                </a:solidFill>
                <a:latin typeface="Calibri"/>
              </a:defRPr>
            </a:pPr>
            <a:r>
              <a:t>Безопасность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246888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0" y="2651760"/>
            <a:ext cx="1737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E74C3C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Хеширование паролей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E74C3C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Использование соли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E74C3C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Необратимый процесс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E74C3C"/>
                </a:solidFill>
                <a:latin typeface="Calibri"/>
              </a:rPr>
              <a:t>●  </a:t>
            </a:r>
            <a:r>
              <a:rPr sz="1300">
                <a:solidFill>
                  <a:srgbClr val="C0C8DA"/>
                </a:solidFill>
                <a:latin typeface="Calibri"/>
              </a:rPr>
              <a:t>Защита от утечек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Архитектура приложения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C8DA"/>
                </a:solidFill>
                <a:latin typeface="Calibri"/>
              </a:defRPr>
            </a:pPr>
            <a:r>
              <a:t>Клиент-серверная архитектура  ·  Разделение Frontend / Backend /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7472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Frontend (Vue 3 + Vite)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main.js — точка входа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App.vue — корневой компонент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Компоненты, страницы, сервисы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Vue Router — маршрутизация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style.css — глобальные стили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8" y="3657600"/>
            <a:ext cx="274320" cy="3657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47472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4E"/>
                </a:solidFill>
                <a:latin typeface="Calibri"/>
              </a:defRPr>
            </a:pPr>
            <a:r>
              <a:t>Backend (Express + Node.js)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242316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5603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app.js — точка входа сервера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routes/ — маршруты API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controllers/ — обработчики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models/ — модели данных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middleware/ — проверка авторизации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services/ — бизнес-логика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config/ — настройки БД и сессий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27848" y="3657600"/>
            <a:ext cx="274320" cy="3657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47472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Calibri"/>
              </a:defRPr>
            </a:pPr>
            <a:r>
              <a:t>Database (MySQL)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42316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25603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Таблица пользователей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Таблица комплектующих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Таблица конфигураций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Таблица элементов конфигурации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Таблица рекомендаций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scripts/seed.js — тестовые данные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Calibri"/>
              </a:defRPr>
            </a:pPr>
            <a:r>
              <a:t>Пользователь → Vue → HTTP-запрос → Express → SQL → MySQL → Ответ → Обновление интерфейса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MySQL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560320" cy="2926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rPr dirty="0" err="1"/>
              <a:t>Пользователь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8745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Имя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E-mail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Хеш пароля (bcrypt)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Роль (user / admin)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280160"/>
            <a:ext cx="2560320" cy="2926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4E"/>
                </a:solidFill>
                <a:latin typeface="Calibri"/>
              </a:defRPr>
            </a:pPr>
            <a:r>
              <a:t>Комплектующее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8745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Название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Категория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Характеристики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Цена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Производитель</a:t>
            </a:r>
            <a:endParaRPr sz="1400" dirty="0">
              <a:solidFill>
                <a:srgbClr val="C0C8DA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●  </a:t>
            </a:r>
            <a:r>
              <a:rPr sz="1400" dirty="0" err="1">
                <a:solidFill>
                  <a:srgbClr val="C0C8DA"/>
                </a:solidFill>
                <a:latin typeface="Calibri"/>
              </a:rPr>
              <a:t>Наличие</a:t>
            </a:r>
            <a:endParaRPr sz="1400" dirty="0">
              <a:solidFill>
                <a:srgbClr val="C0C8DA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26480" y="1280160"/>
            <a:ext cx="2560320" cy="2926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Calibri"/>
              </a:defRPr>
            </a:pPr>
            <a:r>
              <a:t>Конфигурация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745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Название сборки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Владелец (FK)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Дата создания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Общая стоимость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Назначение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280160"/>
            <a:ext cx="2560320" cy="2926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Рекомендации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8745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201168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Подбор на основе выбранных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компонентов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Улучшение сборки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8313017-A045-44D1-A8EE-46E7AABFE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144" y="4334495"/>
            <a:ext cx="6530911" cy="22949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Docker — контейнеризация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700">
                <a:solidFill>
                  <a:srgbClr val="C0C8DA"/>
                </a:solidFill>
                <a:latin typeface="Calibri"/>
              </a:rPr>
              <a:t>Приложение и зависимости упакованы в изолированные контейнеры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700">
                <a:solidFill>
                  <a:srgbClr val="C0C8DA"/>
                </a:solidFill>
                <a:latin typeface="Calibri"/>
              </a:rPr>
              <a:t>Запуск без ручной установки Node.js, MySQL и настройки окружения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700">
                <a:solidFill>
                  <a:srgbClr val="C0C8DA"/>
                </a:solidFill>
                <a:latin typeface="Calibri"/>
              </a:rPr>
              <a:t>Единообразная среда на любой машине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700">
                <a:solidFill>
                  <a:srgbClr val="C0C8DA"/>
                </a:solidFill>
                <a:latin typeface="Calibri"/>
              </a:rPr>
              <a:t>Удобно для командной разработки и деплоя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34747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96ED"/>
                </a:solidFill>
                <a:latin typeface="Calibri"/>
              </a:defRPr>
            </a:pPr>
            <a:r>
              <a:t>Dockerfile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4348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Образ Node.js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Копирование файлов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Установка зависимостей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Команда запуска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840480"/>
            <a:ext cx="34747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96ED"/>
                </a:solidFill>
                <a:latin typeface="Calibri"/>
              </a:defRPr>
            </a:pPr>
            <a:r>
              <a:t>docker-compose.yml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44348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457200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Сервис: backend (Express)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Сервис: db (MySQL)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Порты и переменные окружения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Volume для данных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840480"/>
            <a:ext cx="34747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96ED"/>
                </a:solidFill>
                <a:latin typeface="Calibri"/>
              </a:defRPr>
            </a:pPr>
            <a:r>
              <a:t>nginx.conf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4348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457200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Проксирование запросов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Раздача статики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Маршрутизация frontend/backend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A60E45E-251A-4F3D-AA9C-9F8B84FF7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293" y="731520"/>
            <a:ext cx="4671814" cy="29643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Основной функционал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474720" cy="2468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725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rPr dirty="0"/>
              <a:t>🖥️ 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комплектующих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8745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Просмотр всех категорий товаров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Фильтрация по категории, цене, названию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Подробная карточка каждого компонента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80160"/>
            <a:ext cx="3474720" cy="2468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3030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rPr dirty="0"/>
              <a:t>⚙️  </a:t>
            </a:r>
            <a:r>
              <a:rPr dirty="0" err="1"/>
              <a:t>Конфигуратор</a:t>
            </a:r>
            <a:r>
              <a:rPr dirty="0"/>
              <a:t> ПК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745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Пошаговый подбор комплектующих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Автоматическая проверка совместимости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Расчёт общей стоимости сборки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280160"/>
            <a:ext cx="3474720" cy="2468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3030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rPr dirty="0"/>
              <a:t>🔐  </a:t>
            </a:r>
            <a:r>
              <a:rPr dirty="0" err="1"/>
              <a:t>Авторизация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229600" y="18745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Регистрация по e-mail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Вход с проверкой bcrypt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Разделение ролей (user / admin)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40"/>
            <a:ext cx="3474720" cy="2468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👤  Профиль пользователя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Редактирование данных профиля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Просмотр сохранённых сборок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Управление конфигурациями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977640"/>
            <a:ext cx="3474720" cy="2468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🔧  Админ-панель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57200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47091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Добавление комплектующих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Редактирование характеристик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Управление пользователями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3977640"/>
            <a:ext cx="3474720" cy="2468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💡  Рекомендации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57200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47091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Автоподбор компонентов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Улучшение текущей сборки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На основе выбранных комплектующих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Итоги и выводы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4E"/>
                </a:solidFill>
                <a:latin typeface="Calibri"/>
              </a:defRPr>
            </a:pPr>
            <a:r>
              <a:t>✅  Результаты работы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Разработано полноценное веб-приложение CompCraft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Реализована клиент-серверная архитектура (Vue + Express)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Спроектирована и реализована база данных MySQL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Реализован каталог, конфигуратор ПК, проверка совместимости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Реализована авторизация с хешированием bcrypt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Настроена контейнеризация через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30352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2FF7"/>
                </a:solidFill>
                <a:latin typeface="Calibri"/>
              </a:defRPr>
            </a:pPr>
            <a:r>
              <a:t>📝  Выводы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8745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Все поставленные задачи курсовой работы выполнены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Цель работы достигнута — создан интернет-магазин с конфигуратором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Приложение может использоваться как учебный пример веб-разработки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Проект демонстрирует навыки работы с современным стеком технологий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🚀  Практическая значимость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492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Готовое веб-приложение для интернет-магазина компьютерных комплектующих с конфигуратором и проверкой совместимости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D2FF"/>
                </a:solidFill>
                <a:latin typeface="Calibri"/>
              </a:rPr>
              <a:t>●  </a:t>
            </a:r>
            <a:r>
              <a:rPr sz="1400">
                <a:solidFill>
                  <a:srgbClr val="C0C8DA"/>
                </a:solidFill>
                <a:latin typeface="Calibri"/>
              </a:rPr>
              <a:t>Может применяться как основа для реального коммерческого проекта или как учебный пример клиент-серверной архитектуры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863</Words>
  <Application>Microsoft Office PowerPoint</Application>
  <PresentationFormat>Широкоэкранный</PresentationFormat>
  <Paragraphs>183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chapa</cp:lastModifiedBy>
  <cp:revision>5</cp:revision>
  <dcterms:created xsi:type="dcterms:W3CDTF">2013-01-27T09:14:16Z</dcterms:created>
  <dcterms:modified xsi:type="dcterms:W3CDTF">2026-05-05T14:26:34Z</dcterms:modified>
  <cp:category/>
</cp:coreProperties>
</file>